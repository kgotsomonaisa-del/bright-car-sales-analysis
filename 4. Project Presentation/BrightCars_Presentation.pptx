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4" r:id="rId4"/>
    <p:sldId id="257" r:id="rId5"/>
    <p:sldId id="258" r:id="rId6"/>
    <p:sldId id="259" r:id="rId7"/>
    <p:sldId id="260" r:id="rId8"/>
    <p:sldId id="261" r:id="rId9"/>
    <p:sldId id="263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840" y="58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Monaisa%20Holdings1\Brightlearn\Bright%20Motors%20Car%20Sales\Github%20Repository%20Requirements\3.%20Data%20Processing\Bright%20Cars%20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Cars Results.xlsx]Pivot Tables!PivotTable6</c:name>
    <c:fmtId val="20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'Pivot Tables'!$B$12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7B-4CF4-8E4B-B67CC7550C8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7B-4CF4-8E4B-B67CC7550C8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7B-4CF4-8E4B-B67CC7550C8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77B-4CF4-8E4B-B67CC7550C8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77B-4CF4-8E4B-B67CC7550C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4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Tables'!$A$13:$A$18</c:f>
              <c:strCache>
                <c:ptCount val="5"/>
                <c:pt idx="0">
                  <c:v>Midwest</c:v>
                </c:pt>
                <c:pt idx="1">
                  <c:v>Northeast</c:v>
                </c:pt>
                <c:pt idx="2">
                  <c:v>South</c:v>
                </c:pt>
                <c:pt idx="3">
                  <c:v>Territory</c:v>
                </c:pt>
                <c:pt idx="4">
                  <c:v>West</c:v>
                </c:pt>
              </c:strCache>
            </c:strRef>
          </c:cat>
          <c:val>
            <c:numRef>
              <c:f>'Pivot Tables'!$B$13:$B$18</c:f>
              <c:numCache>
                <c:formatCode>General</c:formatCode>
                <c:ptCount val="5"/>
                <c:pt idx="0">
                  <c:v>100988</c:v>
                </c:pt>
                <c:pt idx="1">
                  <c:v>88741</c:v>
                </c:pt>
                <c:pt idx="2">
                  <c:v>229281</c:v>
                </c:pt>
                <c:pt idx="3">
                  <c:v>2682</c:v>
                </c:pt>
                <c:pt idx="4">
                  <c:v>105038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7B-4CF4-8E4B-B67CC7550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B704-1106-5F31-75A3-2CBF64D82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0C7EE-A001-D50B-D11C-EE401B433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28DD0-523D-06BB-1325-DB88ADDD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1010-B2C7-8D0A-C6AB-49342221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CB643-EFA5-966E-D7B6-9105B1FC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4046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01EB-3EFE-9A76-A888-FFD5E68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3A1DE-DB01-CDA3-D50F-3ABB1A570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D2FF-ADC9-6400-76EF-E28AB932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DBC9D-A522-94DD-55D3-37F73357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9C541-F59E-D7BE-9C8D-ED1D94C6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820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562E-A939-4649-AB51-FA76E750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E4E9A-B24E-DF08-7F12-FDD01E4E9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84B29-0D44-0FFE-FAE0-FB7C994EB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E8585-6CA3-1494-4085-2E6EA6DD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C56CA-2B7A-DB7C-AA57-03845A24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62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E2D6-56AE-9EF6-598D-20A07B24E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F0E4-46E8-0E49-38A6-27376C6A2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78D41-65CA-32A4-6EC9-973E490F6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3B055-9569-8AD1-FCDA-5A76297B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6187B-2367-0A5A-7E98-7DF6E2DC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5D535-7B68-E51F-FFA8-6D057D5D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7313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3430-FDF5-FB5E-A991-C6C747322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0FFC7-B098-E997-2375-5B683DBF0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A13C2-8B7D-D0A6-A1CF-981B06DF7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B708A-ECDD-70B2-357F-78150A915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843A7-DD27-F4D1-237F-CBC5B60CF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DA4FF2-1BD1-9D90-E3F9-D756EA90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E8A8A-4107-CB5B-F2A7-4213345A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363C61-0941-4AE2-8043-4062AED9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524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47D0-E038-4CAE-1F10-8B31F7F1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8CD75-8CAF-525B-102B-9C3DEB5A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69C81-728E-DBA8-7429-3B788282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FC403-0D1F-3923-9A35-9A2773D4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216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F1BF4-830D-5008-BE8A-0E8CC632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04AF5-572F-3E76-E6DF-547A4E8F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F07D1-5173-0DCB-E784-42E9B6D6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641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1F5A-D953-C4A5-1C81-C30028DC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B1705-DC09-1E07-DAFF-AA0B2D478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458B3-1683-92E1-52ED-71BF61E7F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59B86-AFB2-FB15-AE28-8B597CB39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2D025-C61F-8EDB-68F4-A2E7372E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94BA7-3554-CDB9-DA13-F536303B6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430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784B-D10E-7A12-383A-4D43F82C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12937-87DF-2FA1-F7B5-909BD9FA45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D740A-6715-C7A3-B056-7EFF005DF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AA782-07A8-6BA6-64CD-347CE403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735C2-FB24-C03F-BCBA-42A34A695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42708-FE99-A4AC-422F-C6EE8FF8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4270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4E55-469B-221A-1FD5-D86189F9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792C1-1843-74D5-33FB-ED54B73CC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3C23-EF38-B51B-92FA-C15ACEB3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1CA60-43FA-3934-C81F-BF13DD98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3AAFC-23EF-FAFA-0A04-2C615B9B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677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C363F-F6BA-4117-1679-88C12DAE8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74574-436F-D303-6062-5AA7EBE1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7B765-7567-E775-CD47-31C5F3DE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287F7-F3CD-6556-1D15-8BE3D53F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4E47C-EFA3-2745-6AA3-3566A3773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9486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6DC5F9-04D6-B676-DA40-B278CD908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A3C4A-CC4E-BC69-DF56-BC8D2657F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D6C98-2B35-3C5C-4495-1B401402A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ABCB9-3970-4E98-B9C5-F9EAB305F871}" type="datetimeFigureOut">
              <a:rPr lang="en-ZA" smtClean="0"/>
              <a:t>2026/04/29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94916-9122-F3B5-44CC-DF1FE2C2B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F8671-7B7A-2F3B-E01F-69367CE6C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C0D65-32A3-4F26-A53F-5E20E830AE4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459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F9AA4CC-DC43-8511-71D0-1A13CB424D8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0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33D5F0-F331-5116-A395-6B9124B6E47C}"/>
              </a:ext>
            </a:extLst>
          </p:cNvPr>
          <p:cNvSpPr txBox="1"/>
          <p:nvPr/>
        </p:nvSpPr>
        <p:spPr>
          <a:xfrm>
            <a:off x="3958772" y="237347"/>
            <a:ext cx="7279821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400" b="1" dirty="0">
                <a:solidFill>
                  <a:srgbClr val="1B212C"/>
                </a:solidFill>
                <a:latin typeface="Aptos" panose="020B0004020202020204" pitchFamily="34" charset="0"/>
              </a:rPr>
              <a:t>Bright Motors Car Sales Dashboard</a:t>
            </a:r>
            <a:endParaRPr lang="en-ZA" sz="3400" b="1" dirty="0">
              <a:solidFill>
                <a:srgbClr val="1B212C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B82161-39AF-B0E6-1143-947FC9DBBC97}"/>
              </a:ext>
            </a:extLst>
          </p:cNvPr>
          <p:cNvSpPr/>
          <p:nvPr/>
        </p:nvSpPr>
        <p:spPr>
          <a:xfrm>
            <a:off x="1124130" y="1071154"/>
            <a:ext cx="5616304" cy="3041340"/>
          </a:xfrm>
          <a:prstGeom prst="roundRect">
            <a:avLst/>
          </a:prstGeom>
          <a:solidFill>
            <a:srgbClr val="FFFFFF"/>
          </a:solidFill>
          <a:ln>
            <a:solidFill>
              <a:srgbClr val="C4CED7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2D33B-72C9-F4B2-D88C-CDAD560109B9}"/>
              </a:ext>
            </a:extLst>
          </p:cNvPr>
          <p:cNvSpPr txBox="1"/>
          <p:nvPr/>
        </p:nvSpPr>
        <p:spPr>
          <a:xfrm>
            <a:off x="2297975" y="1479524"/>
            <a:ext cx="293696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ZA" sz="2800" b="1" dirty="0">
                <a:latin typeface="Aptos" panose="020B0004020202020204" pitchFamily="34" charset="0"/>
              </a:rPr>
              <a:t>Total </a:t>
            </a:r>
            <a:r>
              <a:rPr lang="en-ZA" sz="3200" b="1" dirty="0">
                <a:latin typeface="Aptos" panose="020B0004020202020204" pitchFamily="34" charset="0"/>
              </a:rPr>
              <a:t>Revenue</a:t>
            </a:r>
            <a:endParaRPr lang="en-ZA" sz="2800" b="1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769F7-E603-1F19-305C-A448CBFFBFE8}"/>
              </a:ext>
            </a:extLst>
          </p:cNvPr>
          <p:cNvSpPr txBox="1"/>
          <p:nvPr/>
        </p:nvSpPr>
        <p:spPr>
          <a:xfrm>
            <a:off x="2337524" y="2526704"/>
            <a:ext cx="3542212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4800" b="1" dirty="0">
                <a:solidFill>
                  <a:srgbClr val="FF0000"/>
                </a:solidFill>
                <a:latin typeface="Aptos" panose="020B0004020202020204" pitchFamily="34" charset="0"/>
              </a:rPr>
              <a:t>R7,605,901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A9C7B0-0F1E-A705-9CBB-DA4F2C435777}"/>
              </a:ext>
            </a:extLst>
          </p:cNvPr>
          <p:cNvSpPr/>
          <p:nvPr/>
        </p:nvSpPr>
        <p:spPr>
          <a:xfrm>
            <a:off x="9744891" y="1069275"/>
            <a:ext cx="5342709" cy="3176154"/>
          </a:xfrm>
          <a:prstGeom prst="roundRect">
            <a:avLst/>
          </a:prstGeom>
          <a:solidFill>
            <a:srgbClr val="FFFFFF"/>
          </a:solidFill>
          <a:ln>
            <a:solidFill>
              <a:srgbClr val="C4CED7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52BA1-F740-CC2B-3646-A6AEBE4AF2FD}"/>
              </a:ext>
            </a:extLst>
          </p:cNvPr>
          <p:cNvSpPr txBox="1"/>
          <p:nvPr/>
        </p:nvSpPr>
        <p:spPr>
          <a:xfrm>
            <a:off x="11305539" y="1306803"/>
            <a:ext cx="250081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3200" b="1" dirty="0">
                <a:latin typeface="Aptos" panose="020B0004020202020204" pitchFamily="34" charset="0"/>
              </a:rPr>
              <a:t>Total</a:t>
            </a:r>
            <a:r>
              <a:rPr lang="en-ZA" sz="1300" b="1" dirty="0">
                <a:latin typeface="Aptos" panose="020B0004020202020204" pitchFamily="34" charset="0"/>
              </a:rPr>
              <a:t> </a:t>
            </a:r>
            <a:r>
              <a:rPr lang="en-ZA" sz="3200" b="1" dirty="0">
                <a:latin typeface="Aptos" panose="020B0004020202020204" pitchFamily="34" charset="0"/>
              </a:rPr>
              <a:t>Sales</a:t>
            </a:r>
            <a:endParaRPr lang="en-ZA" sz="1300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A2EF1-79AF-BFA1-E126-57542F03902A}"/>
              </a:ext>
            </a:extLst>
          </p:cNvPr>
          <p:cNvSpPr txBox="1"/>
          <p:nvPr/>
        </p:nvSpPr>
        <p:spPr>
          <a:xfrm>
            <a:off x="11442700" y="2646434"/>
            <a:ext cx="2307408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4800" b="1" dirty="0">
                <a:solidFill>
                  <a:srgbClr val="FF0000"/>
                </a:solidFill>
                <a:latin typeface="Aptos" panose="020B0004020202020204" pitchFamily="34" charset="0"/>
              </a:rPr>
              <a:t>558798</a:t>
            </a:r>
            <a:endParaRPr lang="en-ZA" sz="44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9129B6-8746-8A4F-9C73-600A69E78E2A}"/>
              </a:ext>
            </a:extLst>
          </p:cNvPr>
          <p:cNvSpPr/>
          <p:nvPr/>
        </p:nvSpPr>
        <p:spPr>
          <a:xfrm>
            <a:off x="1118326" y="5031506"/>
            <a:ext cx="5622109" cy="3498539"/>
          </a:xfrm>
          <a:prstGeom prst="roundRect">
            <a:avLst/>
          </a:prstGeom>
          <a:solidFill>
            <a:srgbClr val="FFFFFF"/>
          </a:solidFill>
          <a:ln>
            <a:solidFill>
              <a:srgbClr val="C4CED7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62EEA-AAA4-DF50-415B-B51E8E1B42C5}"/>
              </a:ext>
            </a:extLst>
          </p:cNvPr>
          <p:cNvSpPr txBox="1"/>
          <p:nvPr/>
        </p:nvSpPr>
        <p:spPr>
          <a:xfrm>
            <a:off x="2446019" y="5280054"/>
            <a:ext cx="321137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3200" b="1" dirty="0">
                <a:latin typeface="Aptos" panose="020B0004020202020204" pitchFamily="34" charset="0"/>
              </a:rPr>
              <a:t>Distinct</a:t>
            </a:r>
            <a:r>
              <a:rPr lang="en-ZA" sz="1300" b="1" dirty="0">
                <a:latin typeface="Aptos" panose="020B0004020202020204" pitchFamily="34" charset="0"/>
              </a:rPr>
              <a:t> </a:t>
            </a:r>
            <a:r>
              <a:rPr lang="en-ZA" sz="3200" b="1" dirty="0">
                <a:latin typeface="Aptos" panose="020B0004020202020204" pitchFamily="34" charset="0"/>
              </a:rPr>
              <a:t>Models</a:t>
            </a:r>
            <a:endParaRPr lang="en-ZA" sz="1300" b="1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0C7FD7-4ABF-9FFD-EB08-D3FDAE92D7C8}"/>
              </a:ext>
            </a:extLst>
          </p:cNvPr>
          <p:cNvSpPr txBox="1"/>
          <p:nvPr/>
        </p:nvSpPr>
        <p:spPr>
          <a:xfrm>
            <a:off x="3622763" y="6616722"/>
            <a:ext cx="1206864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4800" b="1" dirty="0">
                <a:solidFill>
                  <a:srgbClr val="FF0000"/>
                </a:solidFill>
                <a:latin typeface="Aptos" panose="020B0004020202020204" pitchFamily="34" charset="0"/>
              </a:rPr>
              <a:t>36</a:t>
            </a:r>
            <a:endParaRPr lang="en-ZA" sz="24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99808E-B844-7A43-24AC-8BED86678BC8}"/>
              </a:ext>
            </a:extLst>
          </p:cNvPr>
          <p:cNvSpPr/>
          <p:nvPr/>
        </p:nvSpPr>
        <p:spPr>
          <a:xfrm>
            <a:off x="9744891" y="5031505"/>
            <a:ext cx="5622109" cy="3498539"/>
          </a:xfrm>
          <a:prstGeom prst="roundRect">
            <a:avLst/>
          </a:prstGeom>
          <a:solidFill>
            <a:srgbClr val="FFFFFF"/>
          </a:solidFill>
          <a:ln>
            <a:solidFill>
              <a:srgbClr val="C4CED7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FD44A8-218C-2F6B-CB90-532691E897FF}"/>
              </a:ext>
            </a:extLst>
          </p:cNvPr>
          <p:cNvSpPr txBox="1"/>
          <p:nvPr/>
        </p:nvSpPr>
        <p:spPr>
          <a:xfrm>
            <a:off x="11204665" y="5249706"/>
            <a:ext cx="260168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ZA" sz="3200" b="1" dirty="0">
                <a:latin typeface="Aptos" panose="020B0004020202020204" pitchFamily="34" charset="0"/>
              </a:rPr>
              <a:t>Top Region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42B242-8949-E70E-BE53-7E39F9F54E84}"/>
              </a:ext>
            </a:extLst>
          </p:cNvPr>
          <p:cNvSpPr txBox="1"/>
          <p:nvPr/>
        </p:nvSpPr>
        <p:spPr>
          <a:xfrm>
            <a:off x="11804831" y="6365275"/>
            <a:ext cx="27178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4800" b="1" dirty="0">
                <a:solidFill>
                  <a:srgbClr val="FF0000"/>
                </a:solidFill>
                <a:latin typeface="Aptos" panose="020B0004020202020204" pitchFamily="34" charset="0"/>
              </a:rPr>
              <a:t>West</a:t>
            </a:r>
            <a:endParaRPr lang="en-ZA" sz="2600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89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817B3C2-EC4A-01CD-742F-B1CD198F9C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7374661"/>
              </p:ext>
            </p:extLst>
          </p:nvPr>
        </p:nvGraphicFramePr>
        <p:xfrm>
          <a:off x="1985555" y="1528354"/>
          <a:ext cx="12057992" cy="6755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23A91FC-AF0A-53F7-ACF2-E07D8DBB475A}"/>
              </a:ext>
            </a:extLst>
          </p:cNvPr>
          <p:cNvSpPr txBox="1"/>
          <p:nvPr/>
        </p:nvSpPr>
        <p:spPr>
          <a:xfrm>
            <a:off x="5683416" y="567421"/>
            <a:ext cx="35912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600" b="1" dirty="0"/>
              <a:t>Sales </a:t>
            </a:r>
            <a:r>
              <a:rPr lang="en-ZA" sz="4000" b="1" dirty="0"/>
              <a:t>by</a:t>
            </a:r>
            <a:r>
              <a:rPr lang="en-ZA" sz="3600" b="1" dirty="0"/>
              <a:t> Region</a:t>
            </a:r>
          </a:p>
        </p:txBody>
      </p:sp>
    </p:spTree>
    <p:extLst>
      <p:ext uri="{BB962C8B-B14F-4D97-AF65-F5344CB8AC3E}">
        <p14:creationId xmlns:p14="http://schemas.microsoft.com/office/powerpoint/2010/main" val="425349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7CFD19-BE31-FD3A-99F4-C1AA4BBB1797}"/>
              </a:ext>
            </a:extLst>
          </p:cNvPr>
          <p:cNvSpPr txBox="1"/>
          <p:nvPr/>
        </p:nvSpPr>
        <p:spPr>
          <a:xfrm>
            <a:off x="5491773" y="396557"/>
            <a:ext cx="4200141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3600" b="1" dirty="0">
                <a:solidFill>
                  <a:srgbClr val="1B212C"/>
                </a:solidFill>
                <a:latin typeface="Aptos" panose="020B0004020202020204" pitchFamily="34" charset="0"/>
              </a:rPr>
              <a:t>Revenue by Region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1B9B8-7BB6-A7F1-4958-78C3A456B28E}"/>
              </a:ext>
            </a:extLst>
          </p:cNvPr>
          <p:cNvSpPr txBox="1"/>
          <p:nvPr/>
        </p:nvSpPr>
        <p:spPr>
          <a:xfrm>
            <a:off x="1117600" y="19558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Midwest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7DBED2-8293-F18D-3FED-80508478F6C6}"/>
              </a:ext>
            </a:extLst>
          </p:cNvPr>
          <p:cNvSpPr/>
          <p:nvPr/>
        </p:nvSpPr>
        <p:spPr>
          <a:xfrm>
            <a:off x="3022600" y="190500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F5689-8A45-F5E1-001B-EA8F5A8C0966}"/>
              </a:ext>
            </a:extLst>
          </p:cNvPr>
          <p:cNvSpPr/>
          <p:nvPr/>
        </p:nvSpPr>
        <p:spPr>
          <a:xfrm>
            <a:off x="3022600" y="1905000"/>
            <a:ext cx="2139828" cy="996950"/>
          </a:xfrm>
          <a:prstGeom prst="rect">
            <a:avLst/>
          </a:prstGeom>
          <a:solidFill>
            <a:srgbClr val="5A6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BE6FA-EB14-20F0-2698-F440BFBA60B2}"/>
              </a:ext>
            </a:extLst>
          </p:cNvPr>
          <p:cNvSpPr txBox="1"/>
          <p:nvPr/>
        </p:nvSpPr>
        <p:spPr>
          <a:xfrm>
            <a:off x="12928600" y="195580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R173 800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9A017-AB2A-9027-1995-551848723DD7}"/>
              </a:ext>
            </a:extLst>
          </p:cNvPr>
          <p:cNvSpPr txBox="1"/>
          <p:nvPr/>
        </p:nvSpPr>
        <p:spPr>
          <a:xfrm>
            <a:off x="1117600" y="323215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Northeast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C60AE3-8C78-54D3-E621-F85B5A9F3591}"/>
              </a:ext>
            </a:extLst>
          </p:cNvPr>
          <p:cNvSpPr/>
          <p:nvPr/>
        </p:nvSpPr>
        <p:spPr>
          <a:xfrm>
            <a:off x="3022600" y="318135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09C006-C394-CDFE-4792-DE6CA8285866}"/>
              </a:ext>
            </a:extLst>
          </p:cNvPr>
          <p:cNvSpPr/>
          <p:nvPr/>
        </p:nvSpPr>
        <p:spPr>
          <a:xfrm>
            <a:off x="3022600" y="3181350"/>
            <a:ext cx="2469173" cy="996950"/>
          </a:xfrm>
          <a:prstGeom prst="rect">
            <a:avLst/>
          </a:prstGeom>
          <a:solidFill>
            <a:srgbClr val="5A6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B2AA2-C883-A0B6-5B82-2161F49A6F4B}"/>
              </a:ext>
            </a:extLst>
          </p:cNvPr>
          <p:cNvSpPr txBox="1"/>
          <p:nvPr/>
        </p:nvSpPr>
        <p:spPr>
          <a:xfrm>
            <a:off x="12928600" y="323215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R200 550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D01BCA-6E77-8634-2AEF-BEB080EF611A}"/>
              </a:ext>
            </a:extLst>
          </p:cNvPr>
          <p:cNvSpPr txBox="1"/>
          <p:nvPr/>
        </p:nvSpPr>
        <p:spPr>
          <a:xfrm>
            <a:off x="1117600" y="45085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South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478196-2873-4020-967B-2562739BA3B6}"/>
              </a:ext>
            </a:extLst>
          </p:cNvPr>
          <p:cNvSpPr/>
          <p:nvPr/>
        </p:nvSpPr>
        <p:spPr>
          <a:xfrm>
            <a:off x="3022600" y="445770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997D0B-8975-1C6F-3A62-49C8D89F1122}"/>
              </a:ext>
            </a:extLst>
          </p:cNvPr>
          <p:cNvSpPr/>
          <p:nvPr/>
        </p:nvSpPr>
        <p:spPr>
          <a:xfrm>
            <a:off x="3022600" y="4457700"/>
            <a:ext cx="4109749" cy="996950"/>
          </a:xfrm>
          <a:prstGeom prst="rect">
            <a:avLst/>
          </a:prstGeom>
          <a:solidFill>
            <a:srgbClr val="5A6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6E349-3125-1D22-8F0E-25A9153E14E5}"/>
              </a:ext>
            </a:extLst>
          </p:cNvPr>
          <p:cNvSpPr txBox="1"/>
          <p:nvPr/>
        </p:nvSpPr>
        <p:spPr>
          <a:xfrm>
            <a:off x="12928600" y="450850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R333 800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225F01-772A-61ED-8B71-FBDFD8F12F50}"/>
              </a:ext>
            </a:extLst>
          </p:cNvPr>
          <p:cNvSpPr txBox="1"/>
          <p:nvPr/>
        </p:nvSpPr>
        <p:spPr>
          <a:xfrm>
            <a:off x="1117600" y="578485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West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F9AC34-AD8C-F1EE-559E-086E640B4468}"/>
              </a:ext>
            </a:extLst>
          </p:cNvPr>
          <p:cNvSpPr/>
          <p:nvPr/>
        </p:nvSpPr>
        <p:spPr>
          <a:xfrm>
            <a:off x="3022600" y="573405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226E62-773D-84A8-4880-4E3EEB5BF246}"/>
              </a:ext>
            </a:extLst>
          </p:cNvPr>
          <p:cNvSpPr/>
          <p:nvPr/>
        </p:nvSpPr>
        <p:spPr>
          <a:xfrm>
            <a:off x="3022600" y="5734050"/>
            <a:ext cx="9652000" cy="996950"/>
          </a:xfrm>
          <a:prstGeom prst="rect">
            <a:avLst/>
          </a:prstGeom>
          <a:solidFill>
            <a:srgbClr val="5A6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31ABF6-6502-3EF1-8D50-A6BA28E234AC}"/>
              </a:ext>
            </a:extLst>
          </p:cNvPr>
          <p:cNvSpPr txBox="1"/>
          <p:nvPr/>
        </p:nvSpPr>
        <p:spPr>
          <a:xfrm>
            <a:off x="12928600" y="578485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R783 950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8F7D63-16F8-A452-FB24-0E217DD117C2}"/>
              </a:ext>
            </a:extLst>
          </p:cNvPr>
          <p:cNvSpPr txBox="1"/>
          <p:nvPr/>
        </p:nvSpPr>
        <p:spPr>
          <a:xfrm>
            <a:off x="809897" y="7747000"/>
            <a:ext cx="13287103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400" dirty="0">
                <a:latin typeface="Aptos" panose="020B0004020202020204" pitchFamily="34" charset="0"/>
              </a:rPr>
              <a:t>Insight: West contributes the largest share of dashboard revenue, more than twice the South total.</a:t>
            </a:r>
            <a:endParaRPr lang="en-ZA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9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65F5BF-27B4-5BA6-1B4D-54EA1E52D367}"/>
              </a:ext>
            </a:extLst>
          </p:cNvPr>
          <p:cNvSpPr txBox="1"/>
          <p:nvPr/>
        </p:nvSpPr>
        <p:spPr>
          <a:xfrm>
            <a:off x="5512526" y="346843"/>
            <a:ext cx="5068387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3600" b="1" dirty="0">
                <a:solidFill>
                  <a:srgbClr val="1B212C"/>
                </a:solidFill>
                <a:latin typeface="Aptos" panose="020B0004020202020204" pitchFamily="34" charset="0"/>
              </a:rPr>
              <a:t>Transactions by Region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97312-8D92-52F5-8093-79CF54E9F521}"/>
              </a:ext>
            </a:extLst>
          </p:cNvPr>
          <p:cNvSpPr txBox="1"/>
          <p:nvPr/>
        </p:nvSpPr>
        <p:spPr>
          <a:xfrm>
            <a:off x="1117600" y="19558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Midwest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199206-FF35-9A1D-6F24-6ACAD8091B55}"/>
              </a:ext>
            </a:extLst>
          </p:cNvPr>
          <p:cNvSpPr/>
          <p:nvPr/>
        </p:nvSpPr>
        <p:spPr>
          <a:xfrm>
            <a:off x="3022600" y="190500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0594B-D45B-1918-4767-4D66CB1DEAC9}"/>
              </a:ext>
            </a:extLst>
          </p:cNvPr>
          <p:cNvSpPr/>
          <p:nvPr/>
        </p:nvSpPr>
        <p:spPr>
          <a:xfrm>
            <a:off x="3022600" y="1905000"/>
            <a:ext cx="2010833" cy="996950"/>
          </a:xfrm>
          <a:prstGeom prst="rect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879AE-B161-CF10-B9FE-7508F3CD36CD}"/>
              </a:ext>
            </a:extLst>
          </p:cNvPr>
          <p:cNvSpPr txBox="1"/>
          <p:nvPr/>
        </p:nvSpPr>
        <p:spPr>
          <a:xfrm>
            <a:off x="12928600" y="195580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>
                <a:solidFill>
                  <a:srgbClr val="313942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FA527-B255-07A0-B289-6092637C48D6}"/>
              </a:ext>
            </a:extLst>
          </p:cNvPr>
          <p:cNvSpPr txBox="1"/>
          <p:nvPr/>
        </p:nvSpPr>
        <p:spPr>
          <a:xfrm>
            <a:off x="1117600" y="323215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Northeast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9DF902-9DF4-697E-97CD-9271AFF8F666}"/>
              </a:ext>
            </a:extLst>
          </p:cNvPr>
          <p:cNvSpPr/>
          <p:nvPr/>
        </p:nvSpPr>
        <p:spPr>
          <a:xfrm>
            <a:off x="3022600" y="318135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D73E22-D2A1-26DA-D8BC-38AB37238ECA}"/>
              </a:ext>
            </a:extLst>
          </p:cNvPr>
          <p:cNvSpPr/>
          <p:nvPr/>
        </p:nvSpPr>
        <p:spPr>
          <a:xfrm>
            <a:off x="3022600" y="3181350"/>
            <a:ext cx="2815167" cy="996950"/>
          </a:xfrm>
          <a:prstGeom prst="rect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C09E9-2930-3FB1-6EFA-7FC9B98D74DB}"/>
              </a:ext>
            </a:extLst>
          </p:cNvPr>
          <p:cNvSpPr txBox="1"/>
          <p:nvPr/>
        </p:nvSpPr>
        <p:spPr>
          <a:xfrm>
            <a:off x="12928600" y="323215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B9FAB-8EBD-5697-D981-0234026CA36E}"/>
              </a:ext>
            </a:extLst>
          </p:cNvPr>
          <p:cNvSpPr txBox="1"/>
          <p:nvPr/>
        </p:nvSpPr>
        <p:spPr>
          <a:xfrm>
            <a:off x="1117600" y="45085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South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B8BD38-BAFF-16E2-E669-DD8BE2D5AA72}"/>
              </a:ext>
            </a:extLst>
          </p:cNvPr>
          <p:cNvSpPr/>
          <p:nvPr/>
        </p:nvSpPr>
        <p:spPr>
          <a:xfrm>
            <a:off x="3022600" y="445770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AB05CA-B7BF-0B53-B9EC-BBAC722A5F97}"/>
              </a:ext>
            </a:extLst>
          </p:cNvPr>
          <p:cNvSpPr/>
          <p:nvPr/>
        </p:nvSpPr>
        <p:spPr>
          <a:xfrm>
            <a:off x="3022600" y="4457700"/>
            <a:ext cx="4021666" cy="996950"/>
          </a:xfrm>
          <a:prstGeom prst="rect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3CEEF6-5695-BABB-A5F0-F90587AD2449}"/>
              </a:ext>
            </a:extLst>
          </p:cNvPr>
          <p:cNvSpPr txBox="1"/>
          <p:nvPr/>
        </p:nvSpPr>
        <p:spPr>
          <a:xfrm>
            <a:off x="12928600" y="450850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>
                <a:solidFill>
                  <a:srgbClr val="313942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DA0ABC-C415-F621-B101-E8DC8351FAAB}"/>
              </a:ext>
            </a:extLst>
          </p:cNvPr>
          <p:cNvSpPr txBox="1"/>
          <p:nvPr/>
        </p:nvSpPr>
        <p:spPr>
          <a:xfrm>
            <a:off x="1117600" y="578485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West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9E003B-9FB0-5128-FF7F-DC9BF6F9CB48}"/>
              </a:ext>
            </a:extLst>
          </p:cNvPr>
          <p:cNvSpPr/>
          <p:nvPr/>
        </p:nvSpPr>
        <p:spPr>
          <a:xfrm>
            <a:off x="3022600" y="573405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F664EC-2232-8704-B810-23A1681F8089}"/>
              </a:ext>
            </a:extLst>
          </p:cNvPr>
          <p:cNvSpPr/>
          <p:nvPr/>
        </p:nvSpPr>
        <p:spPr>
          <a:xfrm>
            <a:off x="3022600" y="5734050"/>
            <a:ext cx="9652000" cy="996950"/>
          </a:xfrm>
          <a:prstGeom prst="rect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2BBACA-25C0-CE5C-ACC9-E9C27D57F6CF}"/>
              </a:ext>
            </a:extLst>
          </p:cNvPr>
          <p:cNvSpPr txBox="1"/>
          <p:nvPr/>
        </p:nvSpPr>
        <p:spPr>
          <a:xfrm>
            <a:off x="12928600" y="578485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>
                <a:solidFill>
                  <a:srgbClr val="313942"/>
                </a:solidFill>
                <a:latin typeface="Aptos" panose="020B0004020202020204" pitchFamily="34" charset="0"/>
              </a:rPr>
              <a:t>24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112420-ADA1-2F3F-2735-4B813A551744}"/>
              </a:ext>
            </a:extLst>
          </p:cNvPr>
          <p:cNvSpPr txBox="1"/>
          <p:nvPr/>
        </p:nvSpPr>
        <p:spPr>
          <a:xfrm>
            <a:off x="496389" y="7747000"/>
            <a:ext cx="15087599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400" dirty="0">
                <a:latin typeface="Aptos" panose="020B0004020202020204" pitchFamily="34" charset="0"/>
              </a:rPr>
              <a:t>Insight: Transaction activity is also concentrated in the West, which recorded 24 of the 46 dashboard transactions.</a:t>
            </a:r>
            <a:endParaRPr lang="en-ZA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4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160602-6918-CE05-F2A5-82F4494209EE}"/>
              </a:ext>
            </a:extLst>
          </p:cNvPr>
          <p:cNvSpPr txBox="1"/>
          <p:nvPr/>
        </p:nvSpPr>
        <p:spPr>
          <a:xfrm>
            <a:off x="5016138" y="396557"/>
            <a:ext cx="5643154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3600" b="1" dirty="0">
                <a:solidFill>
                  <a:srgbClr val="1B212C"/>
                </a:solidFill>
                <a:latin typeface="Aptos" panose="020B0004020202020204" pitchFamily="34" charset="0"/>
              </a:rPr>
              <a:t>Distinct Models by Region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8ECCD-68A1-E64C-94F1-18A6CE21B4EC}"/>
              </a:ext>
            </a:extLst>
          </p:cNvPr>
          <p:cNvSpPr txBox="1"/>
          <p:nvPr/>
        </p:nvSpPr>
        <p:spPr>
          <a:xfrm>
            <a:off x="1117600" y="19558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Midwest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BAC4D-85D9-B77E-9024-4139A8AC7601}"/>
              </a:ext>
            </a:extLst>
          </p:cNvPr>
          <p:cNvSpPr/>
          <p:nvPr/>
        </p:nvSpPr>
        <p:spPr>
          <a:xfrm>
            <a:off x="3022600" y="190500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33C00-7951-6E40-4B40-18210B48FBCB}"/>
              </a:ext>
            </a:extLst>
          </p:cNvPr>
          <p:cNvSpPr/>
          <p:nvPr/>
        </p:nvSpPr>
        <p:spPr>
          <a:xfrm>
            <a:off x="3022600" y="1905000"/>
            <a:ext cx="2573867" cy="996950"/>
          </a:xfrm>
          <a:prstGeom prst="rect">
            <a:avLst/>
          </a:prstGeom>
          <a:solidFill>
            <a:srgbClr val="5BA4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455E4-8691-A3D0-256C-02A49732263F}"/>
              </a:ext>
            </a:extLst>
          </p:cNvPr>
          <p:cNvSpPr txBox="1"/>
          <p:nvPr/>
        </p:nvSpPr>
        <p:spPr>
          <a:xfrm>
            <a:off x="12928600" y="195580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22C70-B02F-3465-0003-31DFA01F900E}"/>
              </a:ext>
            </a:extLst>
          </p:cNvPr>
          <p:cNvSpPr txBox="1"/>
          <p:nvPr/>
        </p:nvSpPr>
        <p:spPr>
          <a:xfrm>
            <a:off x="1117600" y="323215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Northeast</a:t>
            </a:r>
            <a:endParaRPr lang="en-ZA" sz="15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CE78ED-4F50-632C-64E4-779E00141755}"/>
              </a:ext>
            </a:extLst>
          </p:cNvPr>
          <p:cNvSpPr/>
          <p:nvPr/>
        </p:nvSpPr>
        <p:spPr>
          <a:xfrm>
            <a:off x="3022600" y="318135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CD9D6E-D454-7F0A-D94A-34460551F834}"/>
              </a:ext>
            </a:extLst>
          </p:cNvPr>
          <p:cNvSpPr/>
          <p:nvPr/>
        </p:nvSpPr>
        <p:spPr>
          <a:xfrm>
            <a:off x="3022600" y="3181350"/>
            <a:ext cx="4504266" cy="996950"/>
          </a:xfrm>
          <a:prstGeom prst="rect">
            <a:avLst/>
          </a:prstGeom>
          <a:solidFill>
            <a:srgbClr val="5BA4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426DC-7563-DBB2-66B2-532BDB87405F}"/>
              </a:ext>
            </a:extLst>
          </p:cNvPr>
          <p:cNvSpPr txBox="1"/>
          <p:nvPr/>
        </p:nvSpPr>
        <p:spPr>
          <a:xfrm>
            <a:off x="12928600" y="323215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4D1248-8479-7288-1B3E-94B7CC78700A}"/>
              </a:ext>
            </a:extLst>
          </p:cNvPr>
          <p:cNvSpPr txBox="1"/>
          <p:nvPr/>
        </p:nvSpPr>
        <p:spPr>
          <a:xfrm>
            <a:off x="1117600" y="45085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South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3A3F9F-C628-CDD4-1346-D032FEBF77BC}"/>
              </a:ext>
            </a:extLst>
          </p:cNvPr>
          <p:cNvSpPr/>
          <p:nvPr/>
        </p:nvSpPr>
        <p:spPr>
          <a:xfrm>
            <a:off x="3022600" y="445770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8FFD20-8C6B-BA37-1820-EF1FCDE48383}"/>
              </a:ext>
            </a:extLst>
          </p:cNvPr>
          <p:cNvSpPr/>
          <p:nvPr/>
        </p:nvSpPr>
        <p:spPr>
          <a:xfrm>
            <a:off x="3022600" y="4457700"/>
            <a:ext cx="6434666" cy="996950"/>
          </a:xfrm>
          <a:prstGeom prst="rect">
            <a:avLst/>
          </a:prstGeom>
          <a:solidFill>
            <a:srgbClr val="5BA4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A73CE3-0C73-4A4C-8FAB-0A8DC6B90119}"/>
              </a:ext>
            </a:extLst>
          </p:cNvPr>
          <p:cNvSpPr txBox="1"/>
          <p:nvPr/>
        </p:nvSpPr>
        <p:spPr>
          <a:xfrm>
            <a:off x="12928600" y="450850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D4FD2-24D9-871F-C3D5-1F135E9FB033}"/>
              </a:ext>
            </a:extLst>
          </p:cNvPr>
          <p:cNvSpPr txBox="1"/>
          <p:nvPr/>
        </p:nvSpPr>
        <p:spPr>
          <a:xfrm>
            <a:off x="1117600" y="578485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West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23DA4D-BB62-CE22-2419-A7AC510256D2}"/>
              </a:ext>
            </a:extLst>
          </p:cNvPr>
          <p:cNvSpPr/>
          <p:nvPr/>
        </p:nvSpPr>
        <p:spPr>
          <a:xfrm>
            <a:off x="3022600" y="5734050"/>
            <a:ext cx="9652000" cy="996950"/>
          </a:xfrm>
          <a:prstGeom prst="rect">
            <a:avLst/>
          </a:prstGeom>
          <a:solidFill>
            <a:srgbClr val="E0E8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4BE94C-5378-31B8-2B79-2627E82E3D59}"/>
              </a:ext>
            </a:extLst>
          </p:cNvPr>
          <p:cNvSpPr/>
          <p:nvPr/>
        </p:nvSpPr>
        <p:spPr>
          <a:xfrm>
            <a:off x="3022600" y="5734050"/>
            <a:ext cx="9652000" cy="996950"/>
          </a:xfrm>
          <a:prstGeom prst="rect">
            <a:avLst/>
          </a:prstGeom>
          <a:solidFill>
            <a:srgbClr val="5BA4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F3C826-59FA-9D5A-3346-131B36B8BB3A}"/>
              </a:ext>
            </a:extLst>
          </p:cNvPr>
          <p:cNvSpPr txBox="1"/>
          <p:nvPr/>
        </p:nvSpPr>
        <p:spPr>
          <a:xfrm>
            <a:off x="12928600" y="5784850"/>
            <a:ext cx="139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2000" b="1">
                <a:solidFill>
                  <a:srgbClr val="313942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738AAB-9A47-80CD-9E4E-81C1DE7675B5}"/>
              </a:ext>
            </a:extLst>
          </p:cNvPr>
          <p:cNvSpPr txBox="1"/>
          <p:nvPr/>
        </p:nvSpPr>
        <p:spPr>
          <a:xfrm>
            <a:off x="365761" y="7760063"/>
            <a:ext cx="1507417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400" dirty="0">
                <a:latin typeface="Aptos" panose="020B0004020202020204" pitchFamily="34" charset="0"/>
              </a:rPr>
              <a:t>Insight: The West has the broadest model mix, suggesting both stronger demand and wider inventory coverage.</a:t>
            </a:r>
            <a:endParaRPr lang="en-ZA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8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19C96C-69C0-396E-3E15-70B1C6869C59}"/>
              </a:ext>
            </a:extLst>
          </p:cNvPr>
          <p:cNvSpPr txBox="1"/>
          <p:nvPr/>
        </p:nvSpPr>
        <p:spPr>
          <a:xfrm>
            <a:off x="6121400" y="654348"/>
            <a:ext cx="393772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ZA" sz="2600" b="1" dirty="0">
                <a:solidFill>
                  <a:srgbClr val="1B212C"/>
                </a:solidFill>
                <a:latin typeface="Aptos" panose="020B0004020202020204" pitchFamily="34" charset="0"/>
              </a:rPr>
              <a:t>Revenue by Sale Month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D4DFE0-F061-56D7-240B-74DA663EEA90}"/>
              </a:ext>
            </a:extLst>
          </p:cNvPr>
          <p:cNvSpPr/>
          <p:nvPr/>
        </p:nvSpPr>
        <p:spPr>
          <a:xfrm>
            <a:off x="1117600" y="1905000"/>
            <a:ext cx="13208000" cy="5080000"/>
          </a:xfrm>
          <a:prstGeom prst="roundRect">
            <a:avLst/>
          </a:prstGeom>
          <a:solidFill>
            <a:srgbClr val="FFFFFF"/>
          </a:solidFill>
          <a:ln>
            <a:solidFill>
              <a:srgbClr val="C4C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172AEA-FACD-A65A-729E-A24DDE80B733}"/>
              </a:ext>
            </a:extLst>
          </p:cNvPr>
          <p:cNvSpPr/>
          <p:nvPr/>
        </p:nvSpPr>
        <p:spPr>
          <a:xfrm>
            <a:off x="1943100" y="5476108"/>
            <a:ext cx="127000" cy="127000"/>
          </a:xfrm>
          <a:prstGeom prst="ellipse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B678D-C231-6675-5951-9B17B925CC9F}"/>
              </a:ext>
            </a:extLst>
          </p:cNvPr>
          <p:cNvSpPr txBox="1"/>
          <p:nvPr/>
        </p:nvSpPr>
        <p:spPr>
          <a:xfrm>
            <a:off x="1447800" y="5068675"/>
            <a:ext cx="1230086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R135 250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1456B-27DB-BBAE-92C6-024C49E2156A}"/>
              </a:ext>
            </a:extLst>
          </p:cNvPr>
          <p:cNvSpPr txBox="1"/>
          <p:nvPr/>
        </p:nvSpPr>
        <p:spPr>
          <a:xfrm>
            <a:off x="1523999" y="6375400"/>
            <a:ext cx="144126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dirty="0">
                <a:latin typeface="Aptos" panose="020B0004020202020204" pitchFamily="34" charset="0"/>
              </a:rPr>
              <a:t>Dec 2014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C89046-D31E-2A7A-F517-0BC9F7462852}"/>
              </a:ext>
            </a:extLst>
          </p:cNvPr>
          <p:cNvSpPr/>
          <p:nvPr/>
        </p:nvSpPr>
        <p:spPr>
          <a:xfrm>
            <a:off x="4279900" y="2349500"/>
            <a:ext cx="127000" cy="127000"/>
          </a:xfrm>
          <a:prstGeom prst="ellipse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84B41-1450-6AC5-3F3E-DBDD26646811}"/>
              </a:ext>
            </a:extLst>
          </p:cNvPr>
          <p:cNvSpPr txBox="1"/>
          <p:nvPr/>
        </p:nvSpPr>
        <p:spPr>
          <a:xfrm>
            <a:off x="3784600" y="2006600"/>
            <a:ext cx="133604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R602</a:t>
            </a:r>
            <a:r>
              <a:rPr lang="en-ZA" sz="1400" b="1" dirty="0">
                <a:solidFill>
                  <a:srgbClr val="313942"/>
                </a:solidFill>
                <a:latin typeface="Aptos" panose="020B0004020202020204" pitchFamily="34" charset="0"/>
              </a:rPr>
              <a:t> </a:t>
            </a:r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600</a:t>
            </a:r>
            <a:endParaRPr lang="en-ZA" sz="1400" b="1" dirty="0">
              <a:solidFill>
                <a:srgbClr val="313942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6C530-7510-2628-012B-2A2E51E15B1A}"/>
              </a:ext>
            </a:extLst>
          </p:cNvPr>
          <p:cNvSpPr txBox="1"/>
          <p:nvPr/>
        </p:nvSpPr>
        <p:spPr>
          <a:xfrm>
            <a:off x="3860800" y="6375400"/>
            <a:ext cx="125984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dirty="0">
                <a:latin typeface="Aptos" panose="020B0004020202020204" pitchFamily="34" charset="0"/>
              </a:rPr>
              <a:t>Feb 2015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72A0C74-E0FB-DB45-8BAC-0C2F2F26AA7C}"/>
              </a:ext>
            </a:extLst>
          </p:cNvPr>
          <p:cNvSpPr/>
          <p:nvPr/>
        </p:nvSpPr>
        <p:spPr>
          <a:xfrm>
            <a:off x="6616700" y="4373918"/>
            <a:ext cx="127000" cy="127000"/>
          </a:xfrm>
          <a:prstGeom prst="ellipse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9B463-A0BA-8450-4708-BD0CC036DA6D}"/>
              </a:ext>
            </a:extLst>
          </p:cNvPr>
          <p:cNvSpPr txBox="1"/>
          <p:nvPr/>
        </p:nvSpPr>
        <p:spPr>
          <a:xfrm>
            <a:off x="6121400" y="4031018"/>
            <a:ext cx="1350554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R300 000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5CABBA-6DAD-605F-F6E4-B2C5497B31B1}"/>
              </a:ext>
            </a:extLst>
          </p:cNvPr>
          <p:cNvSpPr txBox="1"/>
          <p:nvPr/>
        </p:nvSpPr>
        <p:spPr>
          <a:xfrm>
            <a:off x="6197600" y="6375400"/>
            <a:ext cx="1441268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dirty="0">
                <a:latin typeface="Aptos" panose="020B0004020202020204" pitchFamily="34" charset="0"/>
              </a:rPr>
              <a:t>Jan 2015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02D30F-FB3F-1674-E8DB-D37DE9CB5B5A}"/>
              </a:ext>
            </a:extLst>
          </p:cNvPr>
          <p:cNvSpPr/>
          <p:nvPr/>
        </p:nvSpPr>
        <p:spPr>
          <a:xfrm>
            <a:off x="8953500" y="4779002"/>
            <a:ext cx="127000" cy="127000"/>
          </a:xfrm>
          <a:prstGeom prst="ellipse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043EE-DC30-56D0-C941-554397BB412A}"/>
              </a:ext>
            </a:extLst>
          </p:cNvPr>
          <p:cNvSpPr txBox="1"/>
          <p:nvPr/>
        </p:nvSpPr>
        <p:spPr>
          <a:xfrm>
            <a:off x="8458200" y="4436102"/>
            <a:ext cx="1350554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R239 450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D3B76-C860-5731-DCA8-18118418EFFA}"/>
              </a:ext>
            </a:extLst>
          </p:cNvPr>
          <p:cNvSpPr txBox="1"/>
          <p:nvPr/>
        </p:nvSpPr>
        <p:spPr>
          <a:xfrm>
            <a:off x="8534400" y="6375400"/>
            <a:ext cx="125984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dirty="0">
                <a:latin typeface="Aptos" panose="020B0004020202020204" pitchFamily="34" charset="0"/>
              </a:rPr>
              <a:t>Jun 2015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C79D2F-54C0-16F7-71C6-38A5B1479B2A}"/>
              </a:ext>
            </a:extLst>
          </p:cNvPr>
          <p:cNvSpPr/>
          <p:nvPr/>
        </p:nvSpPr>
        <p:spPr>
          <a:xfrm>
            <a:off x="11290300" y="6159500"/>
            <a:ext cx="127000" cy="127000"/>
          </a:xfrm>
          <a:prstGeom prst="ellipse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6F799B-AB7B-57A8-5B5D-381EC66CE2C9}"/>
              </a:ext>
            </a:extLst>
          </p:cNvPr>
          <p:cNvSpPr txBox="1"/>
          <p:nvPr/>
        </p:nvSpPr>
        <p:spPr>
          <a:xfrm>
            <a:off x="10799354" y="5654585"/>
            <a:ext cx="1235891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R33 100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028AEF-F8C1-E03B-B503-8F68E8822B7A}"/>
              </a:ext>
            </a:extLst>
          </p:cNvPr>
          <p:cNvSpPr txBox="1"/>
          <p:nvPr/>
        </p:nvSpPr>
        <p:spPr>
          <a:xfrm>
            <a:off x="10871199" y="6375400"/>
            <a:ext cx="125983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dirty="0">
                <a:latin typeface="Aptos" panose="020B0004020202020204" pitchFamily="34" charset="0"/>
              </a:rPr>
              <a:t>Mar 2015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A7AC038-2302-032B-2C2D-2D2D541EBA60}"/>
              </a:ext>
            </a:extLst>
          </p:cNvPr>
          <p:cNvSpPr/>
          <p:nvPr/>
        </p:nvSpPr>
        <p:spPr>
          <a:xfrm>
            <a:off x="13627100" y="5165354"/>
            <a:ext cx="127000" cy="127000"/>
          </a:xfrm>
          <a:prstGeom prst="ellipse">
            <a:avLst/>
          </a:prstGeom>
          <a:solidFill>
            <a:srgbClr val="73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F7BCD3-8D40-B6FF-5C37-6155F642B24E}"/>
              </a:ext>
            </a:extLst>
          </p:cNvPr>
          <p:cNvSpPr txBox="1"/>
          <p:nvPr/>
        </p:nvSpPr>
        <p:spPr>
          <a:xfrm>
            <a:off x="13010606" y="4822454"/>
            <a:ext cx="1238794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b="1" dirty="0">
                <a:solidFill>
                  <a:srgbClr val="313942"/>
                </a:solidFill>
                <a:latin typeface="Aptos" panose="020B0004020202020204" pitchFamily="34" charset="0"/>
              </a:rPr>
              <a:t>R181 700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FF525-D041-8B8A-BC3B-3AAAB20B92B0}"/>
              </a:ext>
            </a:extLst>
          </p:cNvPr>
          <p:cNvSpPr txBox="1"/>
          <p:nvPr/>
        </p:nvSpPr>
        <p:spPr>
          <a:xfrm>
            <a:off x="12913360" y="6375400"/>
            <a:ext cx="125984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ZA" sz="2000" dirty="0">
                <a:latin typeface="Aptos" panose="020B0004020202020204" pitchFamily="34" charset="0"/>
              </a:rPr>
              <a:t>May 2015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9169F5-8E62-CBC0-033B-A37F583A397B}"/>
              </a:ext>
            </a:extLst>
          </p:cNvPr>
          <p:cNvCxnSpPr/>
          <p:nvPr/>
        </p:nvCxnSpPr>
        <p:spPr>
          <a:xfrm flipV="1">
            <a:off x="2006600" y="2413000"/>
            <a:ext cx="2336800" cy="3126608"/>
          </a:xfrm>
          <a:prstGeom prst="line">
            <a:avLst/>
          </a:prstGeom>
          <a:ln w="38100">
            <a:solidFill>
              <a:srgbClr val="736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636FBD-2533-559E-3732-32177BAC5506}"/>
              </a:ext>
            </a:extLst>
          </p:cNvPr>
          <p:cNvCxnSpPr/>
          <p:nvPr/>
        </p:nvCxnSpPr>
        <p:spPr>
          <a:xfrm>
            <a:off x="4343400" y="2413000"/>
            <a:ext cx="2336800" cy="2024418"/>
          </a:xfrm>
          <a:prstGeom prst="line">
            <a:avLst/>
          </a:prstGeom>
          <a:ln w="38100">
            <a:solidFill>
              <a:srgbClr val="736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B4510D-EC86-23CB-DDB0-379276EE2A59}"/>
              </a:ext>
            </a:extLst>
          </p:cNvPr>
          <p:cNvCxnSpPr/>
          <p:nvPr/>
        </p:nvCxnSpPr>
        <p:spPr>
          <a:xfrm>
            <a:off x="6680200" y="4437418"/>
            <a:ext cx="2336800" cy="405084"/>
          </a:xfrm>
          <a:prstGeom prst="line">
            <a:avLst/>
          </a:prstGeom>
          <a:ln w="38100">
            <a:solidFill>
              <a:srgbClr val="736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772CA2-FB67-7980-6304-6352748A099D}"/>
              </a:ext>
            </a:extLst>
          </p:cNvPr>
          <p:cNvCxnSpPr/>
          <p:nvPr/>
        </p:nvCxnSpPr>
        <p:spPr>
          <a:xfrm>
            <a:off x="9017000" y="4842502"/>
            <a:ext cx="2336800" cy="1380498"/>
          </a:xfrm>
          <a:prstGeom prst="line">
            <a:avLst/>
          </a:prstGeom>
          <a:ln w="38100">
            <a:solidFill>
              <a:srgbClr val="736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B865E2D-67AE-B7F8-33FE-86B4D240285E}"/>
              </a:ext>
            </a:extLst>
          </p:cNvPr>
          <p:cNvCxnSpPr/>
          <p:nvPr/>
        </p:nvCxnSpPr>
        <p:spPr>
          <a:xfrm flipV="1">
            <a:off x="11353800" y="5228854"/>
            <a:ext cx="2336800" cy="994146"/>
          </a:xfrm>
          <a:prstGeom prst="line">
            <a:avLst/>
          </a:prstGeom>
          <a:ln w="38100">
            <a:solidFill>
              <a:srgbClr val="736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F014043-AA25-B11B-AED3-6F22FA2AB261}"/>
              </a:ext>
            </a:extLst>
          </p:cNvPr>
          <p:cNvSpPr txBox="1"/>
          <p:nvPr/>
        </p:nvSpPr>
        <p:spPr>
          <a:xfrm>
            <a:off x="1142999" y="7747000"/>
            <a:ext cx="13382897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400" dirty="0">
                <a:latin typeface="Aptos" panose="020B0004020202020204" pitchFamily="34" charset="0"/>
              </a:rPr>
              <a:t>Insight: February 2015 is the highest revenue month in the dashboard view, followed by January 2015.</a:t>
            </a:r>
            <a:endParaRPr lang="en-ZA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02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1631A8-B111-C1DC-899F-3DBED2EE7F86}"/>
              </a:ext>
            </a:extLst>
          </p:cNvPr>
          <p:cNvSpPr txBox="1"/>
          <p:nvPr/>
        </p:nvSpPr>
        <p:spPr>
          <a:xfrm>
            <a:off x="889000" y="939800"/>
            <a:ext cx="1244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3200" b="1">
                <a:solidFill>
                  <a:srgbClr val="1B212C"/>
                </a:solidFill>
                <a:latin typeface="Aptos" panose="020B0004020202020204" pitchFamily="34" charset="0"/>
              </a:rPr>
              <a:t>Summary from the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7379E-1018-1C41-87EA-6A63AAFB7248}"/>
              </a:ext>
            </a:extLst>
          </p:cNvPr>
          <p:cNvSpPr txBox="1"/>
          <p:nvPr/>
        </p:nvSpPr>
        <p:spPr>
          <a:xfrm>
            <a:off x="1117599" y="2159000"/>
            <a:ext cx="13826309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800" dirty="0">
                <a:latin typeface="Aptos" panose="020B0004020202020204" pitchFamily="34" charset="0"/>
              </a:rPr>
              <a:t>1. The West region leads dashboard revenue, transactions, and distinct model coverage.</a:t>
            </a:r>
          </a:p>
          <a:p>
            <a:r>
              <a:rPr lang="en-GB" sz="2800" dirty="0">
                <a:latin typeface="Aptos" panose="020B0004020202020204" pitchFamily="34" charset="0"/>
              </a:rPr>
              <a:t>2. The South is the second-largest region by revenue and transaction activity.</a:t>
            </a:r>
          </a:p>
          <a:p>
            <a:r>
              <a:rPr lang="en-GB" sz="2800" dirty="0">
                <a:latin typeface="Aptos" panose="020B0004020202020204" pitchFamily="34" charset="0"/>
              </a:rPr>
              <a:t>3. February 2015 is the strongest month in the dashboard's monthly revenue chart.</a:t>
            </a:r>
          </a:p>
          <a:p>
            <a:r>
              <a:rPr lang="en-GB" sz="2800" dirty="0">
                <a:latin typeface="Aptos" panose="020B0004020202020204" pitchFamily="34" charset="0"/>
              </a:rPr>
              <a:t>4. The dashboard points to a clear regional focus: prioritize the West while maintaining growth in the South.</a:t>
            </a:r>
            <a:endParaRPr lang="en-ZA" sz="28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26DC9-6AA9-7792-FB56-256876965E40}"/>
              </a:ext>
            </a:extLst>
          </p:cNvPr>
          <p:cNvSpPr txBox="1"/>
          <p:nvPr/>
        </p:nvSpPr>
        <p:spPr>
          <a:xfrm>
            <a:off x="1117600" y="7874000"/>
            <a:ext cx="1244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400">
                <a:solidFill>
                  <a:srgbClr val="5F6973"/>
                </a:solidFill>
                <a:latin typeface="Aptos" panose="020B0004020202020204" pitchFamily="34" charset="0"/>
              </a:rPr>
              <a:t>Source: Bright Cars Results.xlsx, Dashboard and Pivot Tables sheets</a:t>
            </a:r>
            <a:endParaRPr lang="en-ZA" sz="1400">
              <a:solidFill>
                <a:srgbClr val="5F697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464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AEB6FC-2882-8F37-C95B-5A616D0F64AF}"/>
              </a:ext>
            </a:extLst>
          </p:cNvPr>
          <p:cNvSpPr txBox="1"/>
          <p:nvPr/>
        </p:nvSpPr>
        <p:spPr>
          <a:xfrm>
            <a:off x="889000" y="685800"/>
            <a:ext cx="660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3000" b="1">
                <a:solidFill>
                  <a:srgbClr val="1B212C"/>
                </a:solidFill>
                <a:latin typeface="Aptos" panose="020B0004020202020204" pitchFamily="34" charset="0"/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6FBE1-E825-7B0E-EE29-AF8B98DA0DCC}"/>
              </a:ext>
            </a:extLst>
          </p:cNvPr>
          <p:cNvSpPr txBox="1"/>
          <p:nvPr/>
        </p:nvSpPr>
        <p:spPr>
          <a:xfrm>
            <a:off x="914400" y="1270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Strategic actions based on the Bright Motors car sales analysis</a:t>
            </a:r>
            <a:endParaRPr lang="en-ZA" sz="1600" dirty="0"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AFB558-A088-48E2-7BB0-1A0EDDA21FFE}"/>
              </a:ext>
            </a:extLst>
          </p:cNvPr>
          <p:cNvSpPr/>
          <p:nvPr/>
        </p:nvSpPr>
        <p:spPr>
          <a:xfrm>
            <a:off x="914400" y="2032000"/>
            <a:ext cx="6731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28E8A-03E1-81B0-FD9A-0CD6819E81B1}"/>
              </a:ext>
            </a:extLst>
          </p:cNvPr>
          <p:cNvSpPr txBox="1"/>
          <p:nvPr/>
        </p:nvSpPr>
        <p:spPr>
          <a:xfrm>
            <a:off x="1168400" y="2260600"/>
            <a:ext cx="6223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b="1">
                <a:solidFill>
                  <a:srgbClr val="1B212C"/>
                </a:solidFill>
                <a:latin typeface="Aptos" panose="020B0004020202020204" pitchFamily="34" charset="0"/>
              </a:rPr>
              <a:t>1. Prioritize Top Revenue Regions</a:t>
            </a:r>
            <a:endParaRPr lang="en-ZA" b="1">
              <a:solidFill>
                <a:srgbClr val="1B212C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57A30-40AD-C210-37E6-E0947A539507}"/>
              </a:ext>
            </a:extLst>
          </p:cNvPr>
          <p:cNvSpPr txBox="1"/>
          <p:nvPr/>
        </p:nvSpPr>
        <p:spPr>
          <a:xfrm>
            <a:off x="1168400" y="2768600"/>
            <a:ext cx="6223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Focus sales expansion, partnerships, and inventory planning on the West and South, with special attention to top-performing states such as Florida and California in the broader case study analysis.</a:t>
            </a:r>
            <a:endParaRPr lang="en-ZA" sz="1600" dirty="0"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AD4D37-1FD7-BCD4-6256-5C40A6C6612E}"/>
              </a:ext>
            </a:extLst>
          </p:cNvPr>
          <p:cNvSpPr/>
          <p:nvPr/>
        </p:nvSpPr>
        <p:spPr>
          <a:xfrm>
            <a:off x="8229600" y="2032000"/>
            <a:ext cx="6731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D422B-0652-D5E9-1CA2-2C34CBBFC4EF}"/>
              </a:ext>
            </a:extLst>
          </p:cNvPr>
          <p:cNvSpPr txBox="1"/>
          <p:nvPr/>
        </p:nvSpPr>
        <p:spPr>
          <a:xfrm>
            <a:off x="8483600" y="2260600"/>
            <a:ext cx="6223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b="1">
                <a:solidFill>
                  <a:srgbClr val="1B212C"/>
                </a:solidFill>
                <a:latin typeface="Aptos" panose="020B0004020202020204" pitchFamily="34" charset="0"/>
              </a:rPr>
              <a:t>2. Increase High-Demand Inventory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8866D-B9A5-CE09-5FF7-9C427362645B}"/>
              </a:ext>
            </a:extLst>
          </p:cNvPr>
          <p:cNvSpPr txBox="1"/>
          <p:nvPr/>
        </p:nvSpPr>
        <p:spPr>
          <a:xfrm>
            <a:off x="8483600" y="2768600"/>
            <a:ext cx="6223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Sedans drive strong transaction volume, while SUVs and truck-style vehicles deliver higher value per sale. Balance inventory to protect volume while increasing revenue potential.</a:t>
            </a:r>
            <a:endParaRPr lang="en-ZA" sz="1600" dirty="0"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3B098A-25C9-E74D-1BD5-4D7CC12B2598}"/>
              </a:ext>
            </a:extLst>
          </p:cNvPr>
          <p:cNvSpPr/>
          <p:nvPr/>
        </p:nvSpPr>
        <p:spPr>
          <a:xfrm>
            <a:off x="914400" y="4394200"/>
            <a:ext cx="6731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2082A-696C-CAA7-1C9F-4F3C1CFAF8BA}"/>
              </a:ext>
            </a:extLst>
          </p:cNvPr>
          <p:cNvSpPr txBox="1"/>
          <p:nvPr/>
        </p:nvSpPr>
        <p:spPr>
          <a:xfrm>
            <a:off x="1168400" y="4622800"/>
            <a:ext cx="6223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b="1">
                <a:solidFill>
                  <a:srgbClr val="1B212C"/>
                </a:solidFill>
                <a:latin typeface="Aptos" panose="020B0004020202020204" pitchFamily="34" charset="0"/>
              </a:rPr>
              <a:t>3. Strengthen Pricing Discipline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64EBB-A1B0-235E-09FB-9756147AC273}"/>
              </a:ext>
            </a:extLst>
          </p:cNvPr>
          <p:cNvSpPr txBox="1"/>
          <p:nvPr/>
        </p:nvSpPr>
        <p:spPr>
          <a:xfrm>
            <a:off x="1168400" y="5130800"/>
            <a:ext cx="6223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Use vehicle age, mileage, and market benchmarks such as MMR to improve pricing decisions. Older, high-mileage vehicles should be priced more carefully to protect margin.</a:t>
            </a:r>
            <a:endParaRPr lang="en-ZA" sz="1600" dirty="0"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81E848-0796-85C2-EB6A-7CF6EBECB55A}"/>
              </a:ext>
            </a:extLst>
          </p:cNvPr>
          <p:cNvSpPr/>
          <p:nvPr/>
        </p:nvSpPr>
        <p:spPr>
          <a:xfrm>
            <a:off x="8229600" y="4394200"/>
            <a:ext cx="6731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C2CED9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E3078C-569A-B675-DD04-6BFCFF7D54E4}"/>
              </a:ext>
            </a:extLst>
          </p:cNvPr>
          <p:cNvSpPr txBox="1"/>
          <p:nvPr/>
        </p:nvSpPr>
        <p:spPr>
          <a:xfrm>
            <a:off x="8483600" y="4622800"/>
            <a:ext cx="6223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b="1">
                <a:solidFill>
                  <a:srgbClr val="1B212C"/>
                </a:solidFill>
                <a:latin typeface="Aptos" panose="020B0004020202020204" pitchFamily="34" charset="0"/>
              </a:rPr>
              <a:t>4. Improve Data Quality for Better Insight</a:t>
            </a:r>
            <a:endParaRPr lang="en-ZA" b="1">
              <a:solidFill>
                <a:srgbClr val="1B212C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86ADA-06C3-5760-F0A0-26512E1238E7}"/>
              </a:ext>
            </a:extLst>
          </p:cNvPr>
          <p:cNvSpPr txBox="1"/>
          <p:nvPr/>
        </p:nvSpPr>
        <p:spPr>
          <a:xfrm>
            <a:off x="8483600" y="5130800"/>
            <a:ext cx="6223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Capture additional fields such as fuel type, cost price, branch location, and customer segment. This will make future profitability, preference, and operational analysis more accurate.</a:t>
            </a:r>
            <a:endParaRPr lang="en-ZA" sz="1600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1F37E3-F423-091B-EF19-BC715B2C30CB}"/>
              </a:ext>
            </a:extLst>
          </p:cNvPr>
          <p:cNvSpPr txBox="1"/>
          <p:nvPr/>
        </p:nvSpPr>
        <p:spPr>
          <a:xfrm>
            <a:off x="939800" y="7162800"/>
            <a:ext cx="14670314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000" dirty="0">
                <a:latin typeface="Aptos" panose="020B0004020202020204" pitchFamily="34" charset="0"/>
              </a:rPr>
              <a:t>These recommendations are aligned to the dashboard trends, regional sales patterns, and the broader cleaned case study dataset.</a:t>
            </a:r>
            <a:endParaRPr lang="en-ZA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14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423</Words>
  <Application>Microsoft Office PowerPoint</Application>
  <PresentationFormat>Custom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Kgotso Monaisa</dc:creator>
  <cp:lastModifiedBy>Kgotso Monaisa</cp:lastModifiedBy>
  <cp:revision>2</cp:revision>
  <dcterms:created xsi:type="dcterms:W3CDTF">2026-04-23T09:36:40Z</dcterms:created>
  <dcterms:modified xsi:type="dcterms:W3CDTF">2026-04-29T21:37:04Z</dcterms:modified>
</cp:coreProperties>
</file>